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dd26824a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dd26824a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dd26824a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cdd26824a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dd26824a3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cdd26824a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cdd26824a3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cdd26824a3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cdd26824a3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cdd26824a3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dd26824a3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cdd26824a3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dd26824a3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cdd26824a3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cdd26824a3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cdd26824a3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26075"/>
            <a:ext cx="8520600" cy="164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Presentation of WDS Design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Amos - Hall - Nguyen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Requirements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303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</a:t>
            </a:r>
            <a:r>
              <a:rPr lang="en"/>
              <a:t>acteria removal for safe water.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</a:t>
            </a:r>
            <a:r>
              <a:rPr lang="en"/>
              <a:t>arasite removal to reduce infection risk.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Secure, regulation-compliant disposal of contaminants.</a:t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0422" y="1165122"/>
            <a:ext cx="5210051" cy="371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1841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Cases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4706400" cy="37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31536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 sz="5465"/>
              <a:t>Safety and Public Health:</a:t>
            </a:r>
            <a:r>
              <a:rPr lang="en" sz="5465"/>
              <a:t> The system ensures water quality by managing microbiological compliance (specifically targeting bacteria and parasites) and overseeing the disposal of filtered waste in collaboration with public health officials</a:t>
            </a:r>
            <a:endParaRPr sz="5465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465"/>
          </a:p>
          <a:p>
            <a:pPr indent="-31536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n" sz="5465"/>
              <a:t>System Automation and Logic:</a:t>
            </a:r>
            <a:r>
              <a:rPr lang="en" sz="5465"/>
              <a:t> A dedicated use case for maintaining control logic allows Controls Engineers to manage the technical parameters and automated behaviors of the distribution network</a:t>
            </a:r>
            <a:endParaRPr sz="5465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465"/>
          </a:p>
          <a:p>
            <a:pPr indent="-31536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n" sz="5465"/>
              <a:t>Stakeholder Feedback Loop:</a:t>
            </a:r>
            <a:r>
              <a:rPr lang="en" sz="5465"/>
              <a:t> The architecture provides a clear path for maintenance, allowing Homeowners to report system issues which are then triaged and addressed by Maintenance Engineers.</a:t>
            </a:r>
            <a:endParaRPr sz="5465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9650" y="231614"/>
            <a:ext cx="3582651" cy="4766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Filter Activity Diagrams </a:t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5338" y="1054405"/>
            <a:ext cx="2360771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85242" y="1054388"/>
            <a:ext cx="2396969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Contaminant Disposal Activity</a:t>
            </a:r>
            <a:endParaRPr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9337" y="1054400"/>
            <a:ext cx="3565332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Concept</a:t>
            </a:r>
            <a:endParaRPr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6088" y="1188475"/>
            <a:ext cx="5431826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Requirements</a:t>
            </a:r>
            <a:endParaRPr/>
          </a:p>
        </p:txBody>
      </p:sp>
      <p:pic>
        <p:nvPicPr>
          <p:cNvPr id="94" name="Google Shape;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00450"/>
            <a:ext cx="8520599" cy="37458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161550" y="142475"/>
            <a:ext cx="293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Filter Sub System</a:t>
            </a:r>
            <a:endParaRPr/>
          </a:p>
        </p:txBody>
      </p:sp>
      <p:pic>
        <p:nvPicPr>
          <p:cNvPr id="100" name="Google Shape;10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5550" y="675000"/>
            <a:ext cx="5889549" cy="4268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311700" y="445025"/>
            <a:ext cx="364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Satisfying</a:t>
            </a:r>
            <a:r>
              <a:rPr lang="en"/>
              <a:t> Requirements</a:t>
            </a:r>
            <a:endParaRPr/>
          </a:p>
        </p:txBody>
      </p:sp>
      <p:pic>
        <p:nvPicPr>
          <p:cNvPr id="106" name="Google Shape;10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6325" y="555125"/>
            <a:ext cx="6567426" cy="448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